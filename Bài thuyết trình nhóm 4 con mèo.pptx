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0000000000000000000"/>
      <p:regular r:id="rId27"/>
    </p:embeddedFont>
    <p:embeddedFont>
      <p:font typeface="Lato Bold" charset="1" panose="020F0502020204030203"/>
      <p:regular r:id="rId28"/>
    </p:embeddedFont>
    <p:embeddedFont>
      <p:font typeface="Noto Sans Bold" charset="1" panose="020B0802040504020204"/>
      <p:regular r:id="rId30"/>
    </p:embeddedFont>
    <p:embeddedFont>
      <p:font typeface="Aptos Bold" charset="1" panose="020B0004020202020204"/>
      <p:regular r:id="rId33"/>
    </p:embeddedFont>
    <p:embeddedFont>
      <p:font typeface="Noto Sans" charset="1" panose="020B0502040504020204"/>
      <p:regular r:id="rId34"/>
    </p:embeddedFont>
    <p:embeddedFont>
      <p:font typeface="Arimo Bold" charset="1" panose="020B0704020202020204"/>
      <p:regular r:id="rId36"/>
    </p:embeddedFont>
    <p:embeddedFont>
      <p:font typeface="Arimo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17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5663" y="448091"/>
            <a:ext cx="2983179" cy="3033741"/>
            <a:chOff x="0" y="0"/>
            <a:chExt cx="3727806" cy="3790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831" cy="3790950"/>
            </a:xfrm>
            <a:custGeom>
              <a:avLst/>
              <a:gdLst/>
              <a:ahLst/>
              <a:cxnLst/>
              <a:rect r="r" b="b" t="t" l="l"/>
              <a:pathLst>
                <a:path h="3790950" w="3727831">
                  <a:moveTo>
                    <a:pt x="0" y="0"/>
                  </a:moveTo>
                  <a:lnTo>
                    <a:pt x="3727831" y="0"/>
                  </a:lnTo>
                  <a:lnTo>
                    <a:pt x="3727831" y="3790950"/>
                  </a:lnTo>
                  <a:lnTo>
                    <a:pt x="0" y="379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09" t="0" r="-1708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072688"/>
            <a:ext cx="18287771" cy="214312"/>
            <a:chOff x="0" y="0"/>
            <a:chExt cx="24383695" cy="2857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6255898" cy="285750"/>
              <a:chOff x="0" y="0"/>
              <a:chExt cx="16255898" cy="2857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255873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6255873">
                    <a:moveTo>
                      <a:pt x="0" y="0"/>
                    </a:moveTo>
                    <a:lnTo>
                      <a:pt x="16255873" y="0"/>
                    </a:lnTo>
                    <a:lnTo>
                      <a:pt x="16255873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00508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255898" y="0"/>
              <a:ext cx="4063898" cy="285750"/>
              <a:chOff x="0" y="0"/>
              <a:chExt cx="4063898" cy="28575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3873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4063873">
                    <a:moveTo>
                      <a:pt x="0" y="0"/>
                    </a:moveTo>
                    <a:lnTo>
                      <a:pt x="4063873" y="0"/>
                    </a:lnTo>
                    <a:lnTo>
                      <a:pt x="4063873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FFCB05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0319797" y="0"/>
              <a:ext cx="4063898" cy="285750"/>
              <a:chOff x="0" y="0"/>
              <a:chExt cx="4063898" cy="2857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3873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4063873">
                    <a:moveTo>
                      <a:pt x="0" y="0"/>
                    </a:moveTo>
                    <a:lnTo>
                      <a:pt x="4063873" y="0"/>
                    </a:lnTo>
                    <a:lnTo>
                      <a:pt x="4063873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5536358" y="-192789"/>
            <a:ext cx="3445883" cy="3084066"/>
          </a:xfrm>
          <a:custGeom>
            <a:avLst/>
            <a:gdLst/>
            <a:ahLst/>
            <a:cxnLst/>
            <a:rect r="r" b="b" t="t" l="l"/>
            <a:pathLst>
              <a:path h="3084066" w="3445883">
                <a:moveTo>
                  <a:pt x="0" y="0"/>
                </a:moveTo>
                <a:lnTo>
                  <a:pt x="3445884" y="0"/>
                </a:lnTo>
                <a:lnTo>
                  <a:pt x="3445884" y="3084066"/>
                </a:lnTo>
                <a:lnTo>
                  <a:pt x="0" y="3084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620444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54349" y="3434207"/>
            <a:ext cx="11779074" cy="63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b="true" sz="3899">
                <a:solidFill>
                  <a:srgbClr val="0050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Lập Trình trên thiết bị di động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6095" y="4543409"/>
            <a:ext cx="11935809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b="true" sz="51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CẢM BIẾN CHUYỂN ĐỘNG TRÊN  THIẾT BỊ DI ĐỘNG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2073" y="6861982"/>
            <a:ext cx="6190358" cy="8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3874">
                <a:solidFill>
                  <a:srgbClr val="005088"/>
                </a:solidFill>
                <a:latin typeface="Lato Bold"/>
                <a:ea typeface="Lato Bold"/>
                <a:cs typeface="Lato Bold"/>
                <a:sym typeface="Lato Bold"/>
              </a:rPr>
              <a:t>Trình bày: Nhóm 4 con mèo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21911" y="2861699"/>
            <a:ext cx="2423525" cy="2423525"/>
          </a:xfrm>
          <a:custGeom>
            <a:avLst/>
            <a:gdLst/>
            <a:ahLst/>
            <a:cxnLst/>
            <a:rect r="r" b="b" t="t" l="l"/>
            <a:pathLst>
              <a:path h="2423525" w="2423525">
                <a:moveTo>
                  <a:pt x="0" y="0"/>
                </a:moveTo>
                <a:lnTo>
                  <a:pt x="2423525" y="0"/>
                </a:lnTo>
                <a:lnTo>
                  <a:pt x="2423525" y="2423525"/>
                </a:lnTo>
                <a:lnTo>
                  <a:pt x="0" y="2423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53654" y="2977099"/>
            <a:ext cx="2615754" cy="2079525"/>
          </a:xfrm>
          <a:custGeom>
            <a:avLst/>
            <a:gdLst/>
            <a:ahLst/>
            <a:cxnLst/>
            <a:rect r="r" b="b" t="t" l="l"/>
            <a:pathLst>
              <a:path h="2079525" w="2615754">
                <a:moveTo>
                  <a:pt x="0" y="0"/>
                </a:moveTo>
                <a:lnTo>
                  <a:pt x="2615755" y="0"/>
                </a:lnTo>
                <a:lnTo>
                  <a:pt x="2615755" y="2079525"/>
                </a:lnTo>
                <a:lnTo>
                  <a:pt x="0" y="2079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3414">
            <a:off x="5126849" y="6277058"/>
            <a:ext cx="2566955" cy="2233250"/>
          </a:xfrm>
          <a:custGeom>
            <a:avLst/>
            <a:gdLst/>
            <a:ahLst/>
            <a:cxnLst/>
            <a:rect r="r" b="b" t="t" l="l"/>
            <a:pathLst>
              <a:path h="2233250" w="2566955">
                <a:moveTo>
                  <a:pt x="0" y="0"/>
                </a:moveTo>
                <a:lnTo>
                  <a:pt x="2566955" y="0"/>
                </a:lnTo>
                <a:lnTo>
                  <a:pt x="2566955" y="2233251"/>
                </a:lnTo>
                <a:lnTo>
                  <a:pt x="0" y="22332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80674" y="6169139"/>
            <a:ext cx="2518348" cy="2178371"/>
          </a:xfrm>
          <a:custGeom>
            <a:avLst/>
            <a:gdLst/>
            <a:ahLst/>
            <a:cxnLst/>
            <a:rect r="r" b="b" t="t" l="l"/>
            <a:pathLst>
              <a:path h="2178371" w="2518348">
                <a:moveTo>
                  <a:pt x="0" y="0"/>
                </a:moveTo>
                <a:lnTo>
                  <a:pt x="2518348" y="0"/>
                </a:lnTo>
                <a:lnTo>
                  <a:pt x="2518348" y="2178371"/>
                </a:lnTo>
                <a:lnTo>
                  <a:pt x="0" y="2178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39848" y="313432"/>
            <a:ext cx="3710566" cy="3061217"/>
          </a:xfrm>
          <a:custGeom>
            <a:avLst/>
            <a:gdLst/>
            <a:ahLst/>
            <a:cxnLst/>
            <a:rect r="r" b="b" t="t" l="l"/>
            <a:pathLst>
              <a:path h="3061217" w="3710566">
                <a:moveTo>
                  <a:pt x="0" y="0"/>
                </a:moveTo>
                <a:lnTo>
                  <a:pt x="3710566" y="0"/>
                </a:lnTo>
                <a:lnTo>
                  <a:pt x="3710566" y="3061217"/>
                </a:lnTo>
                <a:lnTo>
                  <a:pt x="0" y="3061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6629" y="7816215"/>
            <a:ext cx="2116672" cy="2000255"/>
          </a:xfrm>
          <a:custGeom>
            <a:avLst/>
            <a:gdLst/>
            <a:ahLst/>
            <a:cxnLst/>
            <a:rect r="r" b="b" t="t" l="l"/>
            <a:pathLst>
              <a:path h="2000255" w="2116672">
                <a:moveTo>
                  <a:pt x="0" y="0"/>
                </a:moveTo>
                <a:lnTo>
                  <a:pt x="2116672" y="0"/>
                </a:lnTo>
                <a:lnTo>
                  <a:pt x="2116672" y="2000255"/>
                </a:lnTo>
                <a:lnTo>
                  <a:pt x="0" y="20002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29836" y="923925"/>
            <a:ext cx="1090803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THÀNH VIÊN TRONG NHÓM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6653" y="8530593"/>
            <a:ext cx="54673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Gia Kiệt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5456674"/>
            <a:ext cx="54673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Như Anh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7717" y="5228074"/>
            <a:ext cx="54673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Trương Tuấn Vĩnh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6174" y="8530593"/>
            <a:ext cx="54673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Nguyễn  Văn Thanh Bình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14438"/>
            <a:chOff x="0" y="0"/>
            <a:chExt cx="24384000" cy="16192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619250"/>
            </a:xfrm>
            <a:custGeom>
              <a:avLst/>
              <a:gdLst/>
              <a:ahLst/>
              <a:cxnLst/>
              <a:rect r="r" b="b" t="t" l="l"/>
              <a:pathLst>
                <a:path h="1619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9250"/>
                  </a:lnTo>
                  <a:lnTo>
                    <a:pt x="0" y="16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6570" y="200025"/>
            <a:ext cx="2538651" cy="814388"/>
            <a:chOff x="0" y="0"/>
            <a:chExt cx="3384867" cy="1085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53598" y="2351706"/>
            <a:ext cx="1046136" cy="1046136"/>
          </a:xfrm>
          <a:custGeom>
            <a:avLst/>
            <a:gdLst/>
            <a:ahLst/>
            <a:cxnLst/>
            <a:rect r="r" b="b" t="t" l="l"/>
            <a:pathLst>
              <a:path h="1046136" w="1046136">
                <a:moveTo>
                  <a:pt x="0" y="0"/>
                </a:moveTo>
                <a:lnTo>
                  <a:pt x="1046135" y="0"/>
                </a:lnTo>
                <a:lnTo>
                  <a:pt x="1046135" y="1046135"/>
                </a:lnTo>
                <a:lnTo>
                  <a:pt x="0" y="1046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3598" y="3751640"/>
            <a:ext cx="1046136" cy="1046136"/>
          </a:xfrm>
          <a:custGeom>
            <a:avLst/>
            <a:gdLst/>
            <a:ahLst/>
            <a:cxnLst/>
            <a:rect r="r" b="b" t="t" l="l"/>
            <a:pathLst>
              <a:path h="1046136" w="1046136">
                <a:moveTo>
                  <a:pt x="0" y="0"/>
                </a:moveTo>
                <a:lnTo>
                  <a:pt x="1046135" y="0"/>
                </a:lnTo>
                <a:lnTo>
                  <a:pt x="1046135" y="1046135"/>
                </a:lnTo>
                <a:lnTo>
                  <a:pt x="0" y="1046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3598" y="5151574"/>
            <a:ext cx="1046136" cy="1046136"/>
          </a:xfrm>
          <a:custGeom>
            <a:avLst/>
            <a:gdLst/>
            <a:ahLst/>
            <a:cxnLst/>
            <a:rect r="r" b="b" t="t" l="l"/>
            <a:pathLst>
              <a:path h="1046136" w="1046136">
                <a:moveTo>
                  <a:pt x="0" y="0"/>
                </a:moveTo>
                <a:lnTo>
                  <a:pt x="1046135" y="0"/>
                </a:lnTo>
                <a:lnTo>
                  <a:pt x="1046135" y="1046136"/>
                </a:lnTo>
                <a:lnTo>
                  <a:pt x="0" y="104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3598" y="6551508"/>
            <a:ext cx="1046136" cy="1046136"/>
          </a:xfrm>
          <a:custGeom>
            <a:avLst/>
            <a:gdLst/>
            <a:ahLst/>
            <a:cxnLst/>
            <a:rect r="r" b="b" t="t" l="l"/>
            <a:pathLst>
              <a:path h="1046136" w="1046136">
                <a:moveTo>
                  <a:pt x="0" y="0"/>
                </a:moveTo>
                <a:lnTo>
                  <a:pt x="1046135" y="0"/>
                </a:lnTo>
                <a:lnTo>
                  <a:pt x="1046135" y="1046136"/>
                </a:lnTo>
                <a:lnTo>
                  <a:pt x="0" y="104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53598" y="7889284"/>
            <a:ext cx="1046136" cy="1046136"/>
          </a:xfrm>
          <a:custGeom>
            <a:avLst/>
            <a:gdLst/>
            <a:ahLst/>
            <a:cxnLst/>
            <a:rect r="r" b="b" t="t" l="l"/>
            <a:pathLst>
              <a:path h="1046136" w="1046136">
                <a:moveTo>
                  <a:pt x="0" y="0"/>
                </a:moveTo>
                <a:lnTo>
                  <a:pt x="1046135" y="0"/>
                </a:lnTo>
                <a:lnTo>
                  <a:pt x="1046135" y="1046135"/>
                </a:lnTo>
                <a:lnTo>
                  <a:pt x="0" y="1046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99638" y="4274708"/>
            <a:ext cx="3959662" cy="4888472"/>
          </a:xfrm>
          <a:custGeom>
            <a:avLst/>
            <a:gdLst/>
            <a:ahLst/>
            <a:cxnLst/>
            <a:rect r="r" b="b" t="t" l="l"/>
            <a:pathLst>
              <a:path h="4888472" w="3959662">
                <a:moveTo>
                  <a:pt x="0" y="0"/>
                </a:moveTo>
                <a:lnTo>
                  <a:pt x="3959662" y="0"/>
                </a:lnTo>
                <a:lnTo>
                  <a:pt x="3959662" y="4888472"/>
                </a:lnTo>
                <a:lnTo>
                  <a:pt x="0" y="4888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166813"/>
            <a:ext cx="5687193" cy="73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1"/>
              </a:lnSpc>
            </a:pPr>
            <a:r>
              <a:rPr lang="en-US" sz="4599" b="true">
                <a:solidFill>
                  <a:srgbClr val="0050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Nội dung trình bày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800" y="2344837"/>
            <a:ext cx="3631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5850" y="3780995"/>
            <a:ext cx="3631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5850" y="5198103"/>
            <a:ext cx="3631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7275" y="6569185"/>
            <a:ext cx="3631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095" y="7918639"/>
            <a:ext cx="3631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32254" y="2408655"/>
            <a:ext cx="7774285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Cả</a:t>
            </a:r>
            <a:r>
              <a:rPr lang="en-US" b="true" sz="4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 biến chuyển động là gì?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32254" y="3800045"/>
            <a:ext cx="5578078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Hệ</a:t>
            </a:r>
            <a:r>
              <a:rPr lang="en-US" b="true" sz="4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trục X, Y, Z chuẩn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6836" y="5323199"/>
            <a:ext cx="5358657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Cảm biến gia tốc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32254" y="6591504"/>
            <a:ext cx="9433917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</a:t>
            </a:r>
            <a:r>
              <a:rPr lang="en-US" b="true" sz="4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hợp cảm biến và cách lập trình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32254" y="7937689"/>
            <a:ext cx="8361363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Ứng dụng,</a:t>
            </a:r>
            <a:r>
              <a:rPr lang="en-US" b="true" sz="43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hạn chế và kết luận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9969" y="3361321"/>
            <a:ext cx="11829879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9"/>
              </a:lnSpc>
            </a:pPr>
            <a:r>
              <a:rPr lang="en-US" sz="93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Cảm biến chuyển động là gì?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35" y="11023"/>
            <a:ext cx="2538651" cy="814388"/>
            <a:chOff x="0" y="0"/>
            <a:chExt cx="3384867" cy="1085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59075" y="6456257"/>
            <a:ext cx="3600450" cy="4114800"/>
          </a:xfrm>
          <a:custGeom>
            <a:avLst/>
            <a:gdLst/>
            <a:ahLst/>
            <a:cxnLst/>
            <a:rect r="r" b="b" t="t" l="l"/>
            <a:pathLst>
              <a:path h="4114800" w="3600450">
                <a:moveTo>
                  <a:pt x="0" y="0"/>
                </a:moveTo>
                <a:lnTo>
                  <a:pt x="3600450" y="0"/>
                </a:lnTo>
                <a:lnTo>
                  <a:pt x="3600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2461" y="2319277"/>
            <a:ext cx="15050162" cy="228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24"/>
              </a:lnSpc>
            </a:pPr>
            <a:r>
              <a:rPr lang="en-US" b="true" sz="3661">
                <a:solidFill>
                  <a:srgbClr val="33333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Khái niệm</a:t>
            </a:r>
            <a:r>
              <a:rPr lang="en-US" b="true" sz="3661">
                <a:solidFill>
                  <a:srgbClr val="33333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chính:</a:t>
            </a:r>
            <a:r>
              <a:rPr lang="en-US" sz="3661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Cảm biến chuyển động là nhóm cảm biến giúp thiết bị nhận biết những thay đổi của chính nó như gia tốc, độ nghiêng, rung lắc và tốc độ xoay.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461" y="5076549"/>
            <a:ext cx="14886791" cy="212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14"/>
              </a:lnSpc>
            </a:pPr>
            <a:r>
              <a:rPr lang="en-US" b="true" sz="3361">
                <a:solidFill>
                  <a:srgbClr val="33333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loại: </a:t>
            </a:r>
            <a:r>
              <a:rPr lang="en-US" sz="3361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Gồm cảm biến phần cứng (vật lý) và cảm biến tổng hợp (tạo từ thuật toán kết hợp nhiều nguồn).</a:t>
            </a:r>
          </a:p>
          <a:p>
            <a:pPr algn="just">
              <a:lnSpc>
                <a:spcPts val="571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22461" y="6843006"/>
            <a:ext cx="14607817" cy="140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14"/>
              </a:lnSpc>
            </a:pPr>
            <a:r>
              <a:rPr lang="en-US" sz="3361" b="true">
                <a:solidFill>
                  <a:srgbClr val="33333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dụng:</a:t>
            </a:r>
            <a:r>
              <a:rPr lang="en-US" sz="3361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Điều khiển ứng dụng bằng cử động, không chỉ chạm màn hình.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27590" y="1162050"/>
            <a:ext cx="8032820" cy="56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9"/>
              </a:lnSpc>
              <a:spcBef>
                <a:spcPct val="0"/>
              </a:spcBef>
            </a:pPr>
            <a:r>
              <a:rPr lang="en-US" b="true" sz="4599" spc="-1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Cảm biến chuyển động là gì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14438"/>
            <a:chOff x="0" y="0"/>
            <a:chExt cx="24384000" cy="16192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619250"/>
            </a:xfrm>
            <a:custGeom>
              <a:avLst/>
              <a:gdLst/>
              <a:ahLst/>
              <a:cxnLst/>
              <a:rect r="r" b="b" t="t" l="l"/>
              <a:pathLst>
                <a:path h="1619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9250"/>
                  </a:lnTo>
                  <a:lnTo>
                    <a:pt x="0" y="16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6570" y="200025"/>
            <a:ext cx="2538651" cy="814388"/>
            <a:chOff x="0" y="0"/>
            <a:chExt cx="3384867" cy="1085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254463" y="1568693"/>
            <a:ext cx="11779074" cy="7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b="true" sz="4499">
                <a:solidFill>
                  <a:srgbClr val="0050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Các Cảm Biến Chuyển Động Phổ Biến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090862"/>
            <a:ext cx="5295748" cy="1743075"/>
            <a:chOff x="0" y="0"/>
            <a:chExt cx="7060997" cy="2324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1073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073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273" y="0"/>
                  </a:lnTo>
                  <a:cubicBezTo>
                    <a:pt x="6924548" y="0"/>
                    <a:pt x="7061073" y="136398"/>
                    <a:pt x="7061073" y="304800"/>
                  </a:cubicBezTo>
                  <a:lnTo>
                    <a:pt x="7061073" y="2019300"/>
                  </a:lnTo>
                  <a:cubicBezTo>
                    <a:pt x="7061073" y="2187575"/>
                    <a:pt x="6924675" y="2324100"/>
                    <a:pt x="6756273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10198" y="3090862"/>
            <a:ext cx="5295976" cy="1743075"/>
            <a:chOff x="0" y="0"/>
            <a:chExt cx="7061302" cy="2324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1327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327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527" y="0"/>
                  </a:lnTo>
                  <a:cubicBezTo>
                    <a:pt x="6924802" y="0"/>
                    <a:pt x="7061327" y="136398"/>
                    <a:pt x="7061327" y="304800"/>
                  </a:cubicBezTo>
                  <a:lnTo>
                    <a:pt x="7061327" y="2019300"/>
                  </a:lnTo>
                  <a:cubicBezTo>
                    <a:pt x="7061327" y="2187575"/>
                    <a:pt x="6924929" y="2324100"/>
                    <a:pt x="6756527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91924" y="3090862"/>
            <a:ext cx="5295748" cy="1743075"/>
            <a:chOff x="0" y="0"/>
            <a:chExt cx="7060997" cy="2324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61073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073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273" y="0"/>
                  </a:lnTo>
                  <a:cubicBezTo>
                    <a:pt x="6924548" y="0"/>
                    <a:pt x="7061073" y="136398"/>
                    <a:pt x="7061073" y="304800"/>
                  </a:cubicBezTo>
                  <a:lnTo>
                    <a:pt x="7061073" y="2019300"/>
                  </a:lnTo>
                  <a:cubicBezTo>
                    <a:pt x="7061073" y="2187575"/>
                    <a:pt x="6924675" y="2324100"/>
                    <a:pt x="6756273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42988" y="5986462"/>
            <a:ext cx="5295748" cy="1743075"/>
            <a:chOff x="0" y="0"/>
            <a:chExt cx="7060997" cy="2324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1073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073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273" y="0"/>
                  </a:lnTo>
                  <a:cubicBezTo>
                    <a:pt x="6924548" y="0"/>
                    <a:pt x="7061073" y="136398"/>
                    <a:pt x="7061073" y="304800"/>
                  </a:cubicBezTo>
                  <a:lnTo>
                    <a:pt x="7061073" y="2019300"/>
                  </a:lnTo>
                  <a:cubicBezTo>
                    <a:pt x="7061073" y="2187575"/>
                    <a:pt x="6924675" y="2324100"/>
                    <a:pt x="6756273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624485" y="5986462"/>
            <a:ext cx="5295976" cy="1743075"/>
            <a:chOff x="0" y="0"/>
            <a:chExt cx="7061302" cy="2324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61327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327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527" y="0"/>
                  </a:lnTo>
                  <a:cubicBezTo>
                    <a:pt x="6924802" y="0"/>
                    <a:pt x="7061327" y="136398"/>
                    <a:pt x="7061327" y="304800"/>
                  </a:cubicBezTo>
                  <a:lnTo>
                    <a:pt x="7061327" y="2019300"/>
                  </a:lnTo>
                  <a:cubicBezTo>
                    <a:pt x="7061327" y="2187575"/>
                    <a:pt x="6924929" y="2324100"/>
                    <a:pt x="6756527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206211" y="5986462"/>
            <a:ext cx="5295748" cy="1743075"/>
            <a:chOff x="0" y="0"/>
            <a:chExt cx="7060997" cy="2324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1073" cy="2324100"/>
            </a:xfrm>
            <a:custGeom>
              <a:avLst/>
              <a:gdLst/>
              <a:ahLst/>
              <a:cxnLst/>
              <a:rect r="r" b="b" t="t" l="l"/>
              <a:pathLst>
                <a:path h="2324100" w="7061073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56273" y="0"/>
                  </a:lnTo>
                  <a:cubicBezTo>
                    <a:pt x="6924548" y="0"/>
                    <a:pt x="7061073" y="136398"/>
                    <a:pt x="7061073" y="304800"/>
                  </a:cubicBezTo>
                  <a:lnTo>
                    <a:pt x="7061073" y="2019300"/>
                  </a:lnTo>
                  <a:cubicBezTo>
                    <a:pt x="7061073" y="2187575"/>
                    <a:pt x="6924675" y="2324100"/>
                    <a:pt x="6756273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8700" y="4819650"/>
            <a:ext cx="5295748" cy="14288"/>
            <a:chOff x="0" y="0"/>
            <a:chExt cx="7060997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60946" cy="19050"/>
            </a:xfrm>
            <a:custGeom>
              <a:avLst/>
              <a:gdLst/>
              <a:ahLst/>
              <a:cxnLst/>
              <a:rect r="r" b="b" t="t" l="l"/>
              <a:pathLst>
                <a:path h="1905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3090862"/>
            <a:ext cx="5295748" cy="57150"/>
            <a:chOff x="0" y="0"/>
            <a:chExt cx="7060997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60946" cy="76200"/>
            </a:xfrm>
            <a:custGeom>
              <a:avLst/>
              <a:gdLst/>
              <a:ahLst/>
              <a:cxnLst/>
              <a:rect r="r" b="b" t="t" l="l"/>
              <a:pathLst>
                <a:path h="762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3090862"/>
            <a:ext cx="14288" cy="1743075"/>
            <a:chOff x="0" y="0"/>
            <a:chExt cx="19050" cy="2324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10160" y="3090862"/>
            <a:ext cx="14288" cy="1743075"/>
            <a:chOff x="0" y="0"/>
            <a:chExt cx="19050" cy="2324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10198" y="4819650"/>
            <a:ext cx="5295976" cy="14288"/>
            <a:chOff x="0" y="0"/>
            <a:chExt cx="7061302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61327" cy="19050"/>
            </a:xfrm>
            <a:custGeom>
              <a:avLst/>
              <a:gdLst/>
              <a:ahLst/>
              <a:cxnLst/>
              <a:rect r="r" b="b" t="t" l="l"/>
              <a:pathLst>
                <a:path h="1905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10198" y="3090862"/>
            <a:ext cx="5295976" cy="57150"/>
            <a:chOff x="0" y="0"/>
            <a:chExt cx="7061302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61327" cy="76200"/>
            </a:xfrm>
            <a:custGeom>
              <a:avLst/>
              <a:gdLst/>
              <a:ahLst/>
              <a:cxnLst/>
              <a:rect r="r" b="b" t="t" l="l"/>
              <a:pathLst>
                <a:path h="7620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610198" y="3090862"/>
            <a:ext cx="14288" cy="1743075"/>
            <a:chOff x="0" y="0"/>
            <a:chExt cx="19050" cy="2324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91886" y="3090862"/>
            <a:ext cx="14288" cy="1743075"/>
            <a:chOff x="0" y="0"/>
            <a:chExt cx="19050" cy="2324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91924" y="4819650"/>
            <a:ext cx="5295748" cy="14288"/>
            <a:chOff x="0" y="0"/>
            <a:chExt cx="7060997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60946" cy="19050"/>
            </a:xfrm>
            <a:custGeom>
              <a:avLst/>
              <a:gdLst/>
              <a:ahLst/>
              <a:cxnLst/>
              <a:rect r="r" b="b" t="t" l="l"/>
              <a:pathLst>
                <a:path h="1905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91924" y="3090862"/>
            <a:ext cx="5295748" cy="57150"/>
            <a:chOff x="0" y="0"/>
            <a:chExt cx="7060997" cy="76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60946" cy="76200"/>
            </a:xfrm>
            <a:custGeom>
              <a:avLst/>
              <a:gdLst/>
              <a:ahLst/>
              <a:cxnLst/>
              <a:rect r="r" b="b" t="t" l="l"/>
              <a:pathLst>
                <a:path h="762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91924" y="3090862"/>
            <a:ext cx="14288" cy="1743075"/>
            <a:chOff x="0" y="0"/>
            <a:chExt cx="19050" cy="2324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473393" y="3090862"/>
            <a:ext cx="14288" cy="1743075"/>
            <a:chOff x="0" y="0"/>
            <a:chExt cx="19050" cy="2324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42988" y="7715250"/>
            <a:ext cx="5295748" cy="14288"/>
            <a:chOff x="0" y="0"/>
            <a:chExt cx="7060997" cy="19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60946" cy="19050"/>
            </a:xfrm>
            <a:custGeom>
              <a:avLst/>
              <a:gdLst/>
              <a:ahLst/>
              <a:cxnLst/>
              <a:rect r="r" b="b" t="t" l="l"/>
              <a:pathLst>
                <a:path h="1905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42988" y="5986462"/>
            <a:ext cx="5295748" cy="57150"/>
            <a:chOff x="0" y="0"/>
            <a:chExt cx="7060997" cy="76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060946" cy="76200"/>
            </a:xfrm>
            <a:custGeom>
              <a:avLst/>
              <a:gdLst/>
              <a:ahLst/>
              <a:cxnLst/>
              <a:rect r="r" b="b" t="t" l="l"/>
              <a:pathLst>
                <a:path h="762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2988" y="5986462"/>
            <a:ext cx="14288" cy="1743075"/>
            <a:chOff x="0" y="0"/>
            <a:chExt cx="19050" cy="2324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324448" y="5986462"/>
            <a:ext cx="14288" cy="1743075"/>
            <a:chOff x="0" y="0"/>
            <a:chExt cx="19050" cy="2324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624485" y="7715250"/>
            <a:ext cx="5295976" cy="14288"/>
            <a:chOff x="0" y="0"/>
            <a:chExt cx="7061302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61327" cy="19050"/>
            </a:xfrm>
            <a:custGeom>
              <a:avLst/>
              <a:gdLst/>
              <a:ahLst/>
              <a:cxnLst/>
              <a:rect r="r" b="b" t="t" l="l"/>
              <a:pathLst>
                <a:path h="1905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624485" y="5986462"/>
            <a:ext cx="5295976" cy="57150"/>
            <a:chOff x="0" y="0"/>
            <a:chExt cx="7061302" cy="76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61327" cy="76200"/>
            </a:xfrm>
            <a:custGeom>
              <a:avLst/>
              <a:gdLst/>
              <a:ahLst/>
              <a:cxnLst/>
              <a:rect r="r" b="b" t="t" l="l"/>
              <a:pathLst>
                <a:path h="7620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624485" y="5986462"/>
            <a:ext cx="14288" cy="1743075"/>
            <a:chOff x="0" y="0"/>
            <a:chExt cx="19050" cy="2324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906174" y="5986462"/>
            <a:ext cx="14288" cy="1743075"/>
            <a:chOff x="0" y="0"/>
            <a:chExt cx="19050" cy="2324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206211" y="7715250"/>
            <a:ext cx="5295748" cy="14288"/>
            <a:chOff x="0" y="0"/>
            <a:chExt cx="7060997" cy="190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60946" cy="19050"/>
            </a:xfrm>
            <a:custGeom>
              <a:avLst/>
              <a:gdLst/>
              <a:ahLst/>
              <a:cxnLst/>
              <a:rect r="r" b="b" t="t" l="l"/>
              <a:pathLst>
                <a:path h="1905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206211" y="5986462"/>
            <a:ext cx="5295748" cy="57150"/>
            <a:chOff x="0" y="0"/>
            <a:chExt cx="7060997" cy="76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60946" cy="76200"/>
            </a:xfrm>
            <a:custGeom>
              <a:avLst/>
              <a:gdLst/>
              <a:ahLst/>
              <a:cxnLst/>
              <a:rect r="r" b="b" t="t" l="l"/>
              <a:pathLst>
                <a:path h="762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206211" y="5986462"/>
            <a:ext cx="14288" cy="1743075"/>
            <a:chOff x="0" y="0"/>
            <a:chExt cx="19050" cy="2324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487681" y="5481638"/>
            <a:ext cx="14288" cy="1743075"/>
            <a:chOff x="0" y="0"/>
            <a:chExt cx="19050" cy="23241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43000" y="3169444"/>
            <a:ext cx="275719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Accelerometer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3000" y="3789759"/>
            <a:ext cx="482426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Gia tốc 3 trục (bao gồm lực trọng trường g).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729260" y="3238500"/>
            <a:ext cx="20730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Gyroscope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719735" y="3924300"/>
            <a:ext cx="4924501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Tốc độ góc xoay quanh 3 trục không gian.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418650" y="3238500"/>
            <a:ext cx="282307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Gravity Sensor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453861" y="3886200"/>
            <a:ext cx="472424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Ước lượng riêng thành phần trọng lực tác động.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57288" y="6167438"/>
            <a:ext cx="36830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Linear Acceleration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57287" y="6727031"/>
            <a:ext cx="482426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Gia tốc thực tế đã loại bỏ trọng lực.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743548" y="6134100"/>
            <a:ext cx="295423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Rotation Vector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734023" y="6819900"/>
            <a:ext cx="472447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Hướng xoay thiết bị dựa trên hợp nhất dữ liệu.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320511" y="6184106"/>
            <a:ext cx="460791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Step Detector &amp; Counter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320511" y="6819900"/>
            <a:ext cx="493857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8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Phát hiện và đếm bước chân người dùng.</a:t>
            </a:r>
          </a:p>
        </p:txBody>
      </p:sp>
    </p:spTree>
  </p:cSld>
  <p:clrMapOvr>
    <a:masterClrMapping/>
  </p:clrMapOvr>
  <p:transition spd="fast">
    <p:push dir="u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9969" y="4145963"/>
            <a:ext cx="1146806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90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Hệ trục X, Y, Z chuẩn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761" y="2800742"/>
            <a:ext cx="8661239" cy="1752280"/>
            <a:chOff x="0" y="0"/>
            <a:chExt cx="11548318" cy="2336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48318" cy="2336373"/>
            </a:xfrm>
            <a:custGeom>
              <a:avLst/>
              <a:gdLst/>
              <a:ahLst/>
              <a:cxnLst/>
              <a:rect r="r" b="b" t="t" l="l"/>
              <a:pathLst>
                <a:path h="2336373" w="11548318">
                  <a:moveTo>
                    <a:pt x="0" y="349302"/>
                  </a:moveTo>
                  <a:cubicBezTo>
                    <a:pt x="0" y="156479"/>
                    <a:pt x="140134" y="0"/>
                    <a:pt x="312815" y="0"/>
                  </a:cubicBezTo>
                  <a:lnTo>
                    <a:pt x="11235503" y="0"/>
                  </a:lnTo>
                  <a:cubicBezTo>
                    <a:pt x="11408314" y="0"/>
                    <a:pt x="11548318" y="156479"/>
                    <a:pt x="11548318" y="349302"/>
                  </a:cubicBezTo>
                  <a:lnTo>
                    <a:pt x="11548318" y="1987071"/>
                  </a:lnTo>
                  <a:cubicBezTo>
                    <a:pt x="11548318" y="2180038"/>
                    <a:pt x="11408184" y="2336373"/>
                    <a:pt x="11235503" y="2336373"/>
                  </a:cubicBezTo>
                  <a:lnTo>
                    <a:pt x="312815" y="2336373"/>
                  </a:lnTo>
                  <a:cubicBezTo>
                    <a:pt x="140134" y="2336373"/>
                    <a:pt x="0" y="2179894"/>
                    <a:pt x="0" y="19870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08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2761" y="4594694"/>
            <a:ext cx="8661239" cy="1725216"/>
            <a:chOff x="0" y="0"/>
            <a:chExt cx="11548318" cy="230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48318" cy="2300288"/>
            </a:xfrm>
            <a:custGeom>
              <a:avLst/>
              <a:gdLst/>
              <a:ahLst/>
              <a:cxnLst/>
              <a:rect r="r" b="b" t="t" l="l"/>
              <a:pathLst>
                <a:path h="2300288" w="11548318">
                  <a:moveTo>
                    <a:pt x="0" y="343907"/>
                  </a:moveTo>
                  <a:cubicBezTo>
                    <a:pt x="0" y="154062"/>
                    <a:pt x="140134" y="0"/>
                    <a:pt x="312815" y="0"/>
                  </a:cubicBezTo>
                  <a:lnTo>
                    <a:pt x="11235503" y="0"/>
                  </a:lnTo>
                  <a:cubicBezTo>
                    <a:pt x="11408314" y="0"/>
                    <a:pt x="11548318" y="154062"/>
                    <a:pt x="11548318" y="343907"/>
                  </a:cubicBezTo>
                  <a:lnTo>
                    <a:pt x="11548318" y="1956380"/>
                  </a:lnTo>
                  <a:cubicBezTo>
                    <a:pt x="11548318" y="2146367"/>
                    <a:pt x="11408184" y="2300288"/>
                    <a:pt x="11235503" y="2300288"/>
                  </a:cubicBezTo>
                  <a:lnTo>
                    <a:pt x="312815" y="2300288"/>
                  </a:lnTo>
                  <a:cubicBezTo>
                    <a:pt x="140134" y="2300288"/>
                    <a:pt x="0" y="2146225"/>
                    <a:pt x="0" y="1956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08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82761" y="6361582"/>
            <a:ext cx="8661239" cy="1543050"/>
            <a:chOff x="0" y="0"/>
            <a:chExt cx="11548318" cy="205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48318" cy="2057400"/>
            </a:xfrm>
            <a:custGeom>
              <a:avLst/>
              <a:gdLst/>
              <a:ahLst/>
              <a:cxnLst/>
              <a:rect r="r" b="b" t="t" l="l"/>
              <a:pathLst>
                <a:path h="2057400" w="11548318">
                  <a:moveTo>
                    <a:pt x="0" y="307594"/>
                  </a:moveTo>
                  <a:cubicBezTo>
                    <a:pt x="0" y="137795"/>
                    <a:pt x="140134" y="0"/>
                    <a:pt x="312815" y="0"/>
                  </a:cubicBezTo>
                  <a:lnTo>
                    <a:pt x="11235503" y="0"/>
                  </a:lnTo>
                  <a:cubicBezTo>
                    <a:pt x="11408314" y="0"/>
                    <a:pt x="11548318" y="137795"/>
                    <a:pt x="11548318" y="307594"/>
                  </a:cubicBezTo>
                  <a:lnTo>
                    <a:pt x="11548318" y="1749806"/>
                  </a:lnTo>
                  <a:cubicBezTo>
                    <a:pt x="11548318" y="1919732"/>
                    <a:pt x="11408184" y="2057400"/>
                    <a:pt x="11235503" y="2057400"/>
                  </a:cubicBezTo>
                  <a:lnTo>
                    <a:pt x="312815" y="2057400"/>
                  </a:lnTo>
                  <a:cubicBezTo>
                    <a:pt x="140134" y="2057400"/>
                    <a:pt x="0" y="1919605"/>
                    <a:pt x="0" y="174980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08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97074" y="3058788"/>
            <a:ext cx="400050" cy="400050"/>
            <a:chOff x="0" y="0"/>
            <a:chExt cx="5334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19100" y="0"/>
                  </a:lnTo>
                  <a:cubicBezTo>
                    <a:pt x="482219" y="0"/>
                    <a:pt x="533400" y="51181"/>
                    <a:pt x="533400" y="114300"/>
                  </a:cubicBezTo>
                  <a:lnTo>
                    <a:pt x="533400" y="419100"/>
                  </a:lnTo>
                  <a:cubicBezTo>
                    <a:pt x="533400" y="482219"/>
                    <a:pt x="482219" y="533400"/>
                    <a:pt x="4191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7074" y="4932832"/>
            <a:ext cx="400050" cy="400050"/>
            <a:chOff x="0" y="0"/>
            <a:chExt cx="5334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19100" y="0"/>
                  </a:lnTo>
                  <a:cubicBezTo>
                    <a:pt x="482219" y="0"/>
                    <a:pt x="533400" y="51181"/>
                    <a:pt x="533400" y="114300"/>
                  </a:cubicBezTo>
                  <a:lnTo>
                    <a:pt x="533400" y="419100"/>
                  </a:lnTo>
                  <a:cubicBezTo>
                    <a:pt x="533400" y="482219"/>
                    <a:pt x="482219" y="533400"/>
                    <a:pt x="4191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7074" y="6618757"/>
            <a:ext cx="400050" cy="400050"/>
            <a:chOff x="0" y="0"/>
            <a:chExt cx="5334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19100" y="0"/>
                  </a:lnTo>
                  <a:cubicBezTo>
                    <a:pt x="482219" y="0"/>
                    <a:pt x="533400" y="51181"/>
                    <a:pt x="533400" y="114300"/>
                  </a:cubicBezTo>
                  <a:lnTo>
                    <a:pt x="533400" y="419100"/>
                  </a:lnTo>
                  <a:cubicBezTo>
                    <a:pt x="533400" y="482219"/>
                    <a:pt x="482219" y="533400"/>
                    <a:pt x="4191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83911" y="1970533"/>
            <a:ext cx="8194346" cy="6764308"/>
            <a:chOff x="0" y="0"/>
            <a:chExt cx="9923259" cy="81915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23272" cy="8191500"/>
            </a:xfrm>
            <a:custGeom>
              <a:avLst/>
              <a:gdLst/>
              <a:ahLst/>
              <a:cxnLst/>
              <a:rect r="r" b="b" t="t" l="l"/>
              <a:pathLst>
                <a:path h="8191500" w="9923272">
                  <a:moveTo>
                    <a:pt x="0" y="0"/>
                  </a:moveTo>
                  <a:lnTo>
                    <a:pt x="9923272" y="0"/>
                  </a:lnTo>
                  <a:lnTo>
                    <a:pt x="9923272" y="8191500"/>
                  </a:lnTo>
                  <a:lnTo>
                    <a:pt x="0" y="819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51337" y="2237959"/>
            <a:ext cx="7659494" cy="6229456"/>
            <a:chOff x="0" y="0"/>
            <a:chExt cx="9275559" cy="7543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275572" cy="7543800"/>
            </a:xfrm>
            <a:custGeom>
              <a:avLst/>
              <a:gdLst/>
              <a:ahLst/>
              <a:cxnLst/>
              <a:rect r="r" b="b" t="t" l="l"/>
              <a:pathLst>
                <a:path h="7543800" w="9275572">
                  <a:moveTo>
                    <a:pt x="0" y="0"/>
                  </a:moveTo>
                  <a:lnTo>
                    <a:pt x="9275572" y="0"/>
                  </a:lnTo>
                  <a:lnTo>
                    <a:pt x="9275572" y="7543800"/>
                  </a:lnTo>
                  <a:lnTo>
                    <a:pt x="0" y="754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9" r="0" b="-13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2761" y="1514059"/>
            <a:ext cx="6815852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1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Hệ Tọa Độ X – Y – Z Chuẩn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074" y="3563613"/>
            <a:ext cx="854550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Hướng từ trái sang phải theo chiều ngang màn hình.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7074" y="5437657"/>
            <a:ext cx="85455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Hướng từ dưới lên trên theo chiều dọc màn hình.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074" y="7123582"/>
            <a:ext cx="973503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Hướng vuông góc từ màn hình ra phía ngoài.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82761" y="2971562"/>
            <a:ext cx="828675" cy="563476"/>
            <a:chOff x="0" y="0"/>
            <a:chExt cx="1104900" cy="7513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4900" cy="751301"/>
            </a:xfrm>
            <a:custGeom>
              <a:avLst/>
              <a:gdLst/>
              <a:ahLst/>
              <a:cxnLst/>
              <a:rect r="r" b="b" t="t" l="l"/>
              <a:pathLst>
                <a:path h="751301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751301"/>
                  </a:lnTo>
                  <a:lnTo>
                    <a:pt x="0" y="751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290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04900" cy="770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X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68574" y="3075457"/>
            <a:ext cx="293479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Trục X (Ngang)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82761" y="4861762"/>
            <a:ext cx="828675" cy="563476"/>
            <a:chOff x="0" y="0"/>
            <a:chExt cx="1104900" cy="7513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4900" cy="751301"/>
            </a:xfrm>
            <a:custGeom>
              <a:avLst/>
              <a:gdLst/>
              <a:ahLst/>
              <a:cxnLst/>
              <a:rect r="r" b="b" t="t" l="l"/>
              <a:pathLst>
                <a:path h="751301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751301"/>
                  </a:lnTo>
                  <a:lnTo>
                    <a:pt x="0" y="751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290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4900" cy="770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8FAF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68574" y="4949500"/>
            <a:ext cx="243453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Trục Y (Dọc)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82761" y="6537044"/>
            <a:ext cx="828675" cy="563476"/>
            <a:chOff x="0" y="0"/>
            <a:chExt cx="1104900" cy="7513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4900" cy="751301"/>
            </a:xfrm>
            <a:custGeom>
              <a:avLst/>
              <a:gdLst/>
              <a:ahLst/>
              <a:cxnLst/>
              <a:rect r="r" b="b" t="t" l="l"/>
              <a:pathLst>
                <a:path h="751301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751301"/>
                  </a:lnTo>
                  <a:lnTo>
                    <a:pt x="0" y="751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2900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104900" cy="770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Z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68574" y="6635425"/>
            <a:ext cx="37534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Trục Z (Vuông góc)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9969" y="4145963"/>
            <a:ext cx="1146806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90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Cảm biến gia tốc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328" y="2975707"/>
            <a:ext cx="6960763" cy="2741675"/>
            <a:chOff x="0" y="0"/>
            <a:chExt cx="7254829" cy="285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54854" cy="2857500"/>
            </a:xfrm>
            <a:custGeom>
              <a:avLst/>
              <a:gdLst/>
              <a:ahLst/>
              <a:cxnLst/>
              <a:rect r="r" b="b" t="t" l="l"/>
              <a:pathLst>
                <a:path h="2857500" w="7254854">
                  <a:moveTo>
                    <a:pt x="0" y="306832"/>
                  </a:moveTo>
                  <a:cubicBezTo>
                    <a:pt x="0" y="137414"/>
                    <a:pt x="140800" y="0"/>
                    <a:pt x="314393" y="0"/>
                  </a:cubicBezTo>
                  <a:lnTo>
                    <a:pt x="6940462" y="0"/>
                  </a:lnTo>
                  <a:cubicBezTo>
                    <a:pt x="7114055" y="0"/>
                    <a:pt x="7254854" y="137414"/>
                    <a:pt x="7254854" y="306832"/>
                  </a:cubicBezTo>
                  <a:lnTo>
                    <a:pt x="7254854" y="2550668"/>
                  </a:lnTo>
                  <a:cubicBezTo>
                    <a:pt x="7254854" y="2720086"/>
                    <a:pt x="7114055" y="2857500"/>
                    <a:pt x="6940462" y="2857500"/>
                  </a:cubicBezTo>
                  <a:lnTo>
                    <a:pt x="314393" y="2857500"/>
                  </a:lnTo>
                  <a:cubicBezTo>
                    <a:pt x="140800" y="2857500"/>
                    <a:pt x="0" y="2720086"/>
                    <a:pt x="0" y="2550668"/>
                  </a:cubicBezTo>
                  <a:close/>
                </a:path>
              </a:pathLst>
            </a:custGeom>
            <a:solidFill>
              <a:srgbClr val="EFF6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975552" y="2975707"/>
            <a:ext cx="6793358" cy="2741675"/>
            <a:chOff x="0" y="0"/>
            <a:chExt cx="7080352" cy="285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80376" cy="2857500"/>
            </a:xfrm>
            <a:custGeom>
              <a:avLst/>
              <a:gdLst/>
              <a:ahLst/>
              <a:cxnLst/>
              <a:rect r="r" b="b" t="t" l="l"/>
              <a:pathLst>
                <a:path h="2857500" w="7080376">
                  <a:moveTo>
                    <a:pt x="0" y="306832"/>
                  </a:moveTo>
                  <a:cubicBezTo>
                    <a:pt x="0" y="137414"/>
                    <a:pt x="137414" y="0"/>
                    <a:pt x="306832" y="0"/>
                  </a:cubicBezTo>
                  <a:lnTo>
                    <a:pt x="6773545" y="0"/>
                  </a:lnTo>
                  <a:cubicBezTo>
                    <a:pt x="6942963" y="0"/>
                    <a:pt x="7080376" y="137414"/>
                    <a:pt x="7080376" y="306832"/>
                  </a:cubicBezTo>
                  <a:lnTo>
                    <a:pt x="7080376" y="2550668"/>
                  </a:lnTo>
                  <a:cubicBezTo>
                    <a:pt x="7080376" y="2720086"/>
                    <a:pt x="6942963" y="2857500"/>
                    <a:pt x="6773545" y="2857500"/>
                  </a:cubicBezTo>
                  <a:lnTo>
                    <a:pt x="306832" y="2857500"/>
                  </a:lnTo>
                  <a:cubicBezTo>
                    <a:pt x="137414" y="2857500"/>
                    <a:pt x="0" y="2720086"/>
                    <a:pt x="0" y="2550668"/>
                  </a:cubicBezTo>
                  <a:close/>
                </a:path>
              </a:pathLst>
            </a:custGeom>
            <a:solidFill>
              <a:srgbClr val="F0FDF4"/>
            </a:solidFill>
            <a:ln w="14288" cap="sq">
              <a:solidFill>
                <a:srgbClr val="BBF7D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432932" y="6107906"/>
            <a:ext cx="6814838" cy="2750344"/>
            <a:chOff x="0" y="0"/>
            <a:chExt cx="7080352" cy="285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80376" cy="2857500"/>
            </a:xfrm>
            <a:custGeom>
              <a:avLst/>
              <a:gdLst/>
              <a:ahLst/>
              <a:cxnLst/>
              <a:rect r="r" b="b" t="t" l="l"/>
              <a:pathLst>
                <a:path h="2857500" w="7080376">
                  <a:moveTo>
                    <a:pt x="0" y="306832"/>
                  </a:moveTo>
                  <a:cubicBezTo>
                    <a:pt x="0" y="137414"/>
                    <a:pt x="137414" y="0"/>
                    <a:pt x="306832" y="0"/>
                  </a:cubicBezTo>
                  <a:lnTo>
                    <a:pt x="6773545" y="0"/>
                  </a:lnTo>
                  <a:cubicBezTo>
                    <a:pt x="6942963" y="0"/>
                    <a:pt x="7080376" y="137414"/>
                    <a:pt x="7080376" y="306832"/>
                  </a:cubicBezTo>
                  <a:lnTo>
                    <a:pt x="7080376" y="2550668"/>
                  </a:lnTo>
                  <a:cubicBezTo>
                    <a:pt x="7080376" y="2720086"/>
                    <a:pt x="6942963" y="2857500"/>
                    <a:pt x="6773545" y="2857500"/>
                  </a:cubicBezTo>
                  <a:lnTo>
                    <a:pt x="306832" y="2857500"/>
                  </a:lnTo>
                  <a:cubicBezTo>
                    <a:pt x="137414" y="2857500"/>
                    <a:pt x="0" y="2720086"/>
                    <a:pt x="0" y="2550668"/>
                  </a:cubicBezTo>
                  <a:close/>
                </a:path>
              </a:pathLst>
            </a:custGeom>
            <a:solidFill>
              <a:srgbClr val="FEFCE8"/>
            </a:solidFill>
            <a:ln w="14288" cap="sq">
              <a:solidFill>
                <a:srgbClr val="FEF08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114925" y="1412081"/>
            <a:ext cx="7994551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7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Accelerometer (Gia Tốc Kế)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2342" y="3221685"/>
            <a:ext cx="2920899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3038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ĐẠI LƯỢNG ĐO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2342" y="3696909"/>
            <a:ext cx="3460603" cy="9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</a:pPr>
            <a:r>
              <a:rPr lang="en-US" sz="6204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ax, ay, az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2009" y="4826702"/>
            <a:ext cx="2871231" cy="50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182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Đơn vị: (m/s)²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1637" y="3422741"/>
            <a:ext cx="4891097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3038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ẢNH HƯỞNG TRỌNG LỰC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1637" y="3897965"/>
            <a:ext cx="2884978" cy="9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</a:pPr>
            <a:r>
              <a:rPr lang="en-US" sz="6204" b="true">
                <a:solidFill>
                  <a:srgbClr val="166534"/>
                </a:solidFill>
                <a:latin typeface="Arimo Bold"/>
                <a:ea typeface="Arimo Bold"/>
                <a:cs typeface="Arimo Bold"/>
                <a:sym typeface="Arimo Bold"/>
              </a:rPr>
              <a:t>g ≈ 9.81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71762" y="4877313"/>
            <a:ext cx="5909705" cy="50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182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Đứng yên vẫn ghi nhận trọng lực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0490" y="6556415"/>
            <a:ext cx="357748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 b="true">
                <a:solidFill>
                  <a:srgbClr val="A16207"/>
                </a:solidFill>
                <a:latin typeface="Arimo Bold"/>
                <a:ea typeface="Arimo Bold"/>
                <a:cs typeface="Arimo Bold"/>
                <a:sym typeface="Arimo Bold"/>
              </a:rPr>
              <a:t>ĐỘ LỚN TỔNG HỢP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00490" y="7014091"/>
            <a:ext cx="5447591" cy="86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1"/>
              </a:lnSpc>
            </a:pPr>
            <a:r>
              <a:rPr lang="en-US" sz="5518" b="true">
                <a:solidFill>
                  <a:srgbClr val="854D0E"/>
                </a:solidFill>
                <a:latin typeface="Arimo Bold"/>
                <a:ea typeface="Arimo Bold"/>
                <a:cs typeface="Arimo Bold"/>
                <a:sym typeface="Arimo Bold"/>
              </a:rPr>
              <a:t>√(ax² + ay² + az²)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0490" y="7931587"/>
            <a:ext cx="5732302" cy="48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3063">
                <a:solidFill>
                  <a:srgbClr val="713F12"/>
                </a:solidFill>
                <a:latin typeface="Arimo"/>
                <a:ea typeface="Arimo"/>
                <a:cs typeface="Arimo"/>
                <a:sym typeface="Arimo"/>
              </a:rPr>
              <a:t>Đánh giá chuyển động toàn phần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67003" y="214312"/>
            <a:ext cx="2538651" cy="814388"/>
            <a:chOff x="0" y="0"/>
            <a:chExt cx="3384867" cy="1085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5695" y="3562990"/>
            <a:ext cx="16087450" cy="4703578"/>
          </a:xfrm>
          <a:custGeom>
            <a:avLst/>
            <a:gdLst/>
            <a:ahLst/>
            <a:cxnLst/>
            <a:rect r="r" b="b" t="t" l="l"/>
            <a:pathLst>
              <a:path h="4703578" w="16087450">
                <a:moveTo>
                  <a:pt x="0" y="0"/>
                </a:moveTo>
                <a:lnTo>
                  <a:pt x="16087450" y="0"/>
                </a:lnTo>
                <a:lnTo>
                  <a:pt x="16087450" y="4703579"/>
                </a:lnTo>
                <a:lnTo>
                  <a:pt x="0" y="4703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64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9883" y="1352659"/>
            <a:ext cx="11779074" cy="73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1"/>
              </a:lnSpc>
            </a:pPr>
            <a:r>
              <a:rPr lang="en-US" b="true" sz="4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Gyroscope</a:t>
            </a:r>
            <a:r>
              <a:rPr lang="en-US" b="true" sz="4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và so sánh với Acce</a:t>
            </a:r>
            <a:r>
              <a:rPr lang="en-US" b="true" sz="4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lerometer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91952" y="2503949"/>
            <a:ext cx="15914490" cy="7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24"/>
              </a:lnSpc>
            </a:pPr>
            <a:r>
              <a:rPr lang="en-US" sz="3661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Gyroscope (con quay) đo tốc độ xoay của máy quanh 3 trục X, Y, Z.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023" y="6159"/>
            <a:ext cx="2538651" cy="814388"/>
            <a:chOff x="0" y="0"/>
            <a:chExt cx="3384867" cy="1085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9969" y="3407602"/>
            <a:ext cx="11468062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90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Kết hợp cảm biến và cách lập trình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33796"/>
            <a:ext cx="4994288" cy="4857658"/>
          </a:xfrm>
          <a:custGeom>
            <a:avLst/>
            <a:gdLst/>
            <a:ahLst/>
            <a:cxnLst/>
            <a:rect r="r" b="b" t="t" l="l"/>
            <a:pathLst>
              <a:path h="4857658" w="4994288">
                <a:moveTo>
                  <a:pt x="0" y="0"/>
                </a:moveTo>
                <a:lnTo>
                  <a:pt x="4994288" y="0"/>
                </a:lnTo>
                <a:lnTo>
                  <a:pt x="4994288" y="4857658"/>
                </a:lnTo>
                <a:lnTo>
                  <a:pt x="0" y="4857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529" t="-19558" r="-22529" b="-198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144" y="39594"/>
            <a:ext cx="2538651" cy="814388"/>
            <a:chOff x="0" y="0"/>
            <a:chExt cx="3384867" cy="1085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4150" y="6950403"/>
            <a:ext cx="2296357" cy="2307897"/>
          </a:xfrm>
          <a:custGeom>
            <a:avLst/>
            <a:gdLst/>
            <a:ahLst/>
            <a:cxnLst/>
            <a:rect r="r" b="b" t="t" l="l"/>
            <a:pathLst>
              <a:path h="2307897" w="2296357">
                <a:moveTo>
                  <a:pt x="0" y="0"/>
                </a:moveTo>
                <a:lnTo>
                  <a:pt x="2296357" y="0"/>
                </a:lnTo>
                <a:lnTo>
                  <a:pt x="2296357" y="2307897"/>
                </a:lnTo>
                <a:lnTo>
                  <a:pt x="0" y="230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185555" y="432861"/>
            <a:ext cx="3495712" cy="2709177"/>
          </a:xfrm>
          <a:custGeom>
            <a:avLst/>
            <a:gdLst/>
            <a:ahLst/>
            <a:cxnLst/>
            <a:rect r="r" b="b" t="t" l="l"/>
            <a:pathLst>
              <a:path h="2709177" w="3495712">
                <a:moveTo>
                  <a:pt x="0" y="0"/>
                </a:moveTo>
                <a:lnTo>
                  <a:pt x="3495713" y="0"/>
                </a:lnTo>
                <a:lnTo>
                  <a:pt x="3495713" y="2709177"/>
                </a:lnTo>
                <a:lnTo>
                  <a:pt x="0" y="2709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1182" y="4620261"/>
            <a:ext cx="4320789" cy="258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8"/>
              </a:lnSpc>
            </a:pPr>
            <a:r>
              <a:rPr lang="en-US" b="true" sz="4161">
                <a:solidFill>
                  <a:srgbClr val="33333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Đừng kết luận chỉ từ một con số của một cảm biến.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1970" y="1442132"/>
            <a:ext cx="6777441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4399" spc="-1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 hợp cảm biến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41448" y="3428138"/>
            <a:ext cx="1119548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Accelero</a:t>
            </a:r>
            <a:r>
              <a:rPr lang="en-US" b="true" sz="3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meter: </a:t>
            </a: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biết máy có bị lắc hay va mạnh không.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3464" y="4306254"/>
            <a:ext cx="1119548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Gyroscop</a:t>
            </a:r>
            <a:r>
              <a:rPr lang="en-US" b="true" sz="3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e: </a:t>
            </a: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biết máy đang xoay thế nào.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41448" y="5293689"/>
            <a:ext cx="11195488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Theo dõi </a:t>
            </a:r>
            <a:r>
              <a:rPr lang="en-US" b="true" sz="3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theo thời gian: </a:t>
            </a: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phân biệt một cú va nhất thời với cả một chuỗi hành động.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41448" y="6769428"/>
            <a:ext cx="11195488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Cảm biến tổng hợp</a:t>
            </a:r>
            <a:r>
              <a:rPr lang="en-US" b="true" sz="34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cho biết hướng của máy ổn định hơn.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07378" y="0"/>
            <a:ext cx="3861841" cy="4072240"/>
          </a:xfrm>
          <a:custGeom>
            <a:avLst/>
            <a:gdLst/>
            <a:ahLst/>
            <a:cxnLst/>
            <a:rect r="r" b="b" t="t" l="l"/>
            <a:pathLst>
              <a:path h="4072240" w="3861841">
                <a:moveTo>
                  <a:pt x="0" y="0"/>
                </a:moveTo>
                <a:lnTo>
                  <a:pt x="3861841" y="0"/>
                </a:lnTo>
                <a:lnTo>
                  <a:pt x="3861841" y="4072240"/>
                </a:lnTo>
                <a:lnTo>
                  <a:pt x="0" y="4072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88" y="9364028"/>
            <a:ext cx="18288000" cy="5623560"/>
          </a:xfrm>
          <a:custGeom>
            <a:avLst/>
            <a:gdLst/>
            <a:ahLst/>
            <a:cxnLst/>
            <a:rect r="r" b="b" t="t" l="l"/>
            <a:pathLst>
              <a:path h="5623560" w="18288000">
                <a:moveTo>
                  <a:pt x="0" y="0"/>
                </a:moveTo>
                <a:lnTo>
                  <a:pt x="18288000" y="0"/>
                </a:lnTo>
                <a:lnTo>
                  <a:pt x="18288000" y="5623560"/>
                </a:lnTo>
                <a:lnTo>
                  <a:pt x="0" y="562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713" y="21794"/>
            <a:ext cx="2538651" cy="814388"/>
            <a:chOff x="0" y="0"/>
            <a:chExt cx="3384867" cy="1085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6358" y="3783506"/>
            <a:ext cx="2887176" cy="1333820"/>
            <a:chOff x="0" y="0"/>
            <a:chExt cx="760408" cy="3512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408" cy="351294"/>
            </a:xfrm>
            <a:custGeom>
              <a:avLst/>
              <a:gdLst/>
              <a:ahLst/>
              <a:cxnLst/>
              <a:rect r="r" b="b" t="t" l="l"/>
              <a:pathLst>
                <a:path h="351294" w="760408">
                  <a:moveTo>
                    <a:pt x="136756" y="0"/>
                  </a:moveTo>
                  <a:lnTo>
                    <a:pt x="623653" y="0"/>
                  </a:lnTo>
                  <a:cubicBezTo>
                    <a:pt x="659923" y="0"/>
                    <a:pt x="694707" y="14408"/>
                    <a:pt x="720354" y="40055"/>
                  </a:cubicBezTo>
                  <a:cubicBezTo>
                    <a:pt x="746000" y="65702"/>
                    <a:pt x="760408" y="100486"/>
                    <a:pt x="760408" y="136756"/>
                  </a:cubicBezTo>
                  <a:lnTo>
                    <a:pt x="760408" y="214538"/>
                  </a:lnTo>
                  <a:cubicBezTo>
                    <a:pt x="760408" y="250808"/>
                    <a:pt x="746000" y="285593"/>
                    <a:pt x="720354" y="311239"/>
                  </a:cubicBezTo>
                  <a:cubicBezTo>
                    <a:pt x="694707" y="336886"/>
                    <a:pt x="659923" y="351294"/>
                    <a:pt x="623653" y="351294"/>
                  </a:cubicBezTo>
                  <a:lnTo>
                    <a:pt x="136756" y="351294"/>
                  </a:lnTo>
                  <a:cubicBezTo>
                    <a:pt x="100486" y="351294"/>
                    <a:pt x="65702" y="336886"/>
                    <a:pt x="40055" y="311239"/>
                  </a:cubicBezTo>
                  <a:cubicBezTo>
                    <a:pt x="14408" y="285593"/>
                    <a:pt x="0" y="250808"/>
                    <a:pt x="0" y="214538"/>
                  </a:cubicBezTo>
                  <a:lnTo>
                    <a:pt x="0" y="136756"/>
                  </a:lnTo>
                  <a:cubicBezTo>
                    <a:pt x="0" y="100486"/>
                    <a:pt x="14408" y="65702"/>
                    <a:pt x="40055" y="40055"/>
                  </a:cubicBezTo>
                  <a:cubicBezTo>
                    <a:pt x="65702" y="14408"/>
                    <a:pt x="100486" y="0"/>
                    <a:pt x="136756" y="0"/>
                  </a:cubicBezTo>
                  <a:close/>
                </a:path>
              </a:pathLst>
            </a:custGeom>
            <a:solidFill>
              <a:srgbClr val="90CA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60408" cy="408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Chuyển động vật lý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44214" y="3783506"/>
            <a:ext cx="2702512" cy="1307646"/>
            <a:chOff x="0" y="0"/>
            <a:chExt cx="711773" cy="3444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773" cy="344401"/>
            </a:xfrm>
            <a:custGeom>
              <a:avLst/>
              <a:gdLst/>
              <a:ahLst/>
              <a:cxnLst/>
              <a:rect r="r" b="b" t="t" l="l"/>
              <a:pathLst>
                <a:path h="344401" w="711773">
                  <a:moveTo>
                    <a:pt x="146100" y="0"/>
                  </a:moveTo>
                  <a:lnTo>
                    <a:pt x="565672" y="0"/>
                  </a:lnTo>
                  <a:cubicBezTo>
                    <a:pt x="604421" y="0"/>
                    <a:pt x="641582" y="15393"/>
                    <a:pt x="668981" y="42792"/>
                  </a:cubicBezTo>
                  <a:cubicBezTo>
                    <a:pt x="696380" y="70191"/>
                    <a:pt x="711773" y="107352"/>
                    <a:pt x="711773" y="146100"/>
                  </a:cubicBezTo>
                  <a:lnTo>
                    <a:pt x="711773" y="198300"/>
                  </a:lnTo>
                  <a:cubicBezTo>
                    <a:pt x="711773" y="237048"/>
                    <a:pt x="696380" y="274210"/>
                    <a:pt x="668981" y="301609"/>
                  </a:cubicBezTo>
                  <a:cubicBezTo>
                    <a:pt x="641582" y="329008"/>
                    <a:pt x="604421" y="344401"/>
                    <a:pt x="565672" y="344401"/>
                  </a:cubicBezTo>
                  <a:lnTo>
                    <a:pt x="146100" y="344401"/>
                  </a:lnTo>
                  <a:cubicBezTo>
                    <a:pt x="107352" y="344401"/>
                    <a:pt x="70191" y="329008"/>
                    <a:pt x="42792" y="301609"/>
                  </a:cubicBezTo>
                  <a:cubicBezTo>
                    <a:pt x="15393" y="274210"/>
                    <a:pt x="0" y="237048"/>
                    <a:pt x="0" y="198300"/>
                  </a:cubicBezTo>
                  <a:lnTo>
                    <a:pt x="0" y="146100"/>
                  </a:lnTo>
                  <a:cubicBezTo>
                    <a:pt x="0" y="107352"/>
                    <a:pt x="15393" y="70191"/>
                    <a:pt x="42792" y="42792"/>
                  </a:cubicBezTo>
                  <a:cubicBezTo>
                    <a:pt x="70191" y="15393"/>
                    <a:pt x="107352" y="0"/>
                    <a:pt x="146100" y="0"/>
                  </a:cubicBezTo>
                  <a:close/>
                </a:path>
              </a:pathLst>
            </a:custGeom>
            <a:solidFill>
              <a:srgbClr val="90CAE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1773" cy="4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Cảm biến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23026" y="3783506"/>
            <a:ext cx="2841998" cy="1307646"/>
            <a:chOff x="0" y="0"/>
            <a:chExt cx="748510" cy="3444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8510" cy="344401"/>
            </a:xfrm>
            <a:custGeom>
              <a:avLst/>
              <a:gdLst/>
              <a:ahLst/>
              <a:cxnLst/>
              <a:rect r="r" b="b" t="t" l="l"/>
              <a:pathLst>
                <a:path h="344401" w="748510">
                  <a:moveTo>
                    <a:pt x="138930" y="0"/>
                  </a:moveTo>
                  <a:lnTo>
                    <a:pt x="609580" y="0"/>
                  </a:lnTo>
                  <a:cubicBezTo>
                    <a:pt x="686309" y="0"/>
                    <a:pt x="748510" y="62201"/>
                    <a:pt x="748510" y="138930"/>
                  </a:cubicBezTo>
                  <a:lnTo>
                    <a:pt x="748510" y="205471"/>
                  </a:lnTo>
                  <a:cubicBezTo>
                    <a:pt x="748510" y="242317"/>
                    <a:pt x="733873" y="277655"/>
                    <a:pt x="707818" y="303709"/>
                  </a:cubicBezTo>
                  <a:cubicBezTo>
                    <a:pt x="681764" y="329763"/>
                    <a:pt x="646427" y="344401"/>
                    <a:pt x="609580" y="344401"/>
                  </a:cubicBezTo>
                  <a:lnTo>
                    <a:pt x="138930" y="344401"/>
                  </a:lnTo>
                  <a:cubicBezTo>
                    <a:pt x="102083" y="344401"/>
                    <a:pt x="66746" y="329763"/>
                    <a:pt x="40692" y="303709"/>
                  </a:cubicBezTo>
                  <a:cubicBezTo>
                    <a:pt x="14637" y="277655"/>
                    <a:pt x="0" y="242317"/>
                    <a:pt x="0" y="205471"/>
                  </a:cubicBezTo>
                  <a:lnTo>
                    <a:pt x="0" y="138930"/>
                  </a:lnTo>
                  <a:cubicBezTo>
                    <a:pt x="0" y="102083"/>
                    <a:pt x="14637" y="66746"/>
                    <a:pt x="40692" y="40692"/>
                  </a:cubicBezTo>
                  <a:cubicBezTo>
                    <a:pt x="66746" y="14637"/>
                    <a:pt x="102083" y="0"/>
                    <a:pt x="138930" y="0"/>
                  </a:cubicBezTo>
                  <a:close/>
                </a:path>
              </a:pathLst>
            </a:custGeom>
            <a:solidFill>
              <a:srgbClr val="E3B0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48510" cy="4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Sự cảm biến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42083" y="3783506"/>
            <a:ext cx="2702512" cy="1307646"/>
            <a:chOff x="0" y="0"/>
            <a:chExt cx="711773" cy="3444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773" cy="344401"/>
            </a:xfrm>
            <a:custGeom>
              <a:avLst/>
              <a:gdLst/>
              <a:ahLst/>
              <a:cxnLst/>
              <a:rect r="r" b="b" t="t" l="l"/>
              <a:pathLst>
                <a:path h="344401" w="711773">
                  <a:moveTo>
                    <a:pt x="146100" y="0"/>
                  </a:moveTo>
                  <a:lnTo>
                    <a:pt x="565672" y="0"/>
                  </a:lnTo>
                  <a:cubicBezTo>
                    <a:pt x="604421" y="0"/>
                    <a:pt x="641582" y="15393"/>
                    <a:pt x="668981" y="42792"/>
                  </a:cubicBezTo>
                  <a:cubicBezTo>
                    <a:pt x="696380" y="70191"/>
                    <a:pt x="711773" y="107352"/>
                    <a:pt x="711773" y="146100"/>
                  </a:cubicBezTo>
                  <a:lnTo>
                    <a:pt x="711773" y="198300"/>
                  </a:lnTo>
                  <a:cubicBezTo>
                    <a:pt x="711773" y="237048"/>
                    <a:pt x="696380" y="274210"/>
                    <a:pt x="668981" y="301609"/>
                  </a:cubicBezTo>
                  <a:cubicBezTo>
                    <a:pt x="641582" y="329008"/>
                    <a:pt x="604421" y="344401"/>
                    <a:pt x="565672" y="344401"/>
                  </a:cubicBezTo>
                  <a:lnTo>
                    <a:pt x="146100" y="344401"/>
                  </a:lnTo>
                  <a:cubicBezTo>
                    <a:pt x="107352" y="344401"/>
                    <a:pt x="70191" y="329008"/>
                    <a:pt x="42792" y="301609"/>
                  </a:cubicBezTo>
                  <a:cubicBezTo>
                    <a:pt x="15393" y="274210"/>
                    <a:pt x="0" y="237048"/>
                    <a:pt x="0" y="198300"/>
                  </a:cubicBezTo>
                  <a:lnTo>
                    <a:pt x="0" y="146100"/>
                  </a:lnTo>
                  <a:cubicBezTo>
                    <a:pt x="0" y="107352"/>
                    <a:pt x="15393" y="70191"/>
                    <a:pt x="42792" y="42792"/>
                  </a:cubicBezTo>
                  <a:cubicBezTo>
                    <a:pt x="70191" y="15393"/>
                    <a:pt x="107352" y="0"/>
                    <a:pt x="146100" y="0"/>
                  </a:cubicBezTo>
                  <a:close/>
                </a:path>
              </a:pathLst>
            </a:custGeom>
            <a:solidFill>
              <a:srgbClr val="90CAE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11773" cy="4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Ứng dụng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21653" y="3783506"/>
            <a:ext cx="2702512" cy="1307646"/>
            <a:chOff x="0" y="0"/>
            <a:chExt cx="711773" cy="3444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773" cy="344401"/>
            </a:xfrm>
            <a:custGeom>
              <a:avLst/>
              <a:gdLst/>
              <a:ahLst/>
              <a:cxnLst/>
              <a:rect r="r" b="b" t="t" l="l"/>
              <a:pathLst>
                <a:path h="344401" w="711773">
                  <a:moveTo>
                    <a:pt x="146100" y="0"/>
                  </a:moveTo>
                  <a:lnTo>
                    <a:pt x="565672" y="0"/>
                  </a:lnTo>
                  <a:cubicBezTo>
                    <a:pt x="604421" y="0"/>
                    <a:pt x="641582" y="15393"/>
                    <a:pt x="668981" y="42792"/>
                  </a:cubicBezTo>
                  <a:cubicBezTo>
                    <a:pt x="696380" y="70191"/>
                    <a:pt x="711773" y="107352"/>
                    <a:pt x="711773" y="146100"/>
                  </a:cubicBezTo>
                  <a:lnTo>
                    <a:pt x="711773" y="198300"/>
                  </a:lnTo>
                  <a:cubicBezTo>
                    <a:pt x="711773" y="237048"/>
                    <a:pt x="696380" y="274210"/>
                    <a:pt x="668981" y="301609"/>
                  </a:cubicBezTo>
                  <a:cubicBezTo>
                    <a:pt x="641582" y="329008"/>
                    <a:pt x="604421" y="344401"/>
                    <a:pt x="565672" y="344401"/>
                  </a:cubicBezTo>
                  <a:lnTo>
                    <a:pt x="146100" y="344401"/>
                  </a:lnTo>
                  <a:cubicBezTo>
                    <a:pt x="107352" y="344401"/>
                    <a:pt x="70191" y="329008"/>
                    <a:pt x="42792" y="301609"/>
                  </a:cubicBezTo>
                  <a:cubicBezTo>
                    <a:pt x="15393" y="274210"/>
                    <a:pt x="0" y="237048"/>
                    <a:pt x="0" y="198300"/>
                  </a:cubicBezTo>
                  <a:lnTo>
                    <a:pt x="0" y="146100"/>
                  </a:lnTo>
                  <a:cubicBezTo>
                    <a:pt x="0" y="107352"/>
                    <a:pt x="15393" y="70191"/>
                    <a:pt x="42792" y="42792"/>
                  </a:cubicBezTo>
                  <a:cubicBezTo>
                    <a:pt x="70191" y="15393"/>
                    <a:pt x="107352" y="0"/>
                    <a:pt x="146100" y="0"/>
                  </a:cubicBezTo>
                  <a:close/>
                </a:path>
              </a:pathLst>
            </a:custGeom>
            <a:solidFill>
              <a:srgbClr val="90CAE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11773" cy="4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Phản hồi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3463534" y="4437329"/>
            <a:ext cx="880680" cy="130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7046726" y="4437329"/>
            <a:ext cx="8763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0765024" y="4437329"/>
            <a:ext cx="67705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4144594" y="4437329"/>
            <a:ext cx="67705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2659919" y="1470336"/>
            <a:ext cx="13068739" cy="56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9"/>
              </a:lnSpc>
              <a:spcBef>
                <a:spcPct val="0"/>
              </a:spcBef>
            </a:pPr>
            <a:r>
              <a:rPr lang="en-US" b="true" sz="4599" spc="-1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Nhận dữ liệu cảm biến trên Android và Flutter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5866" y="6093135"/>
            <a:ext cx="16838298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Android: </a:t>
            </a:r>
            <a:r>
              <a:rPr lang="en-US" sz="3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 dụng đăng ký n</a:t>
            </a:r>
            <a:r>
              <a:rPr lang="en-US" sz="3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hận dữ liệu, hệ điều hành gửi về liên tục.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4876" y="7144694"/>
            <a:ext cx="16838298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Flutter: </a:t>
            </a:r>
            <a:r>
              <a:rPr lang="en-US" sz="3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thư viện sensors_plus,</a:t>
            </a:r>
            <a:r>
              <a:rPr lang="en-US" sz="3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dữ liệu đến dưới dạng luồng (stream).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7642" y="3951767"/>
            <a:ext cx="14402972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909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ỨNG DỤNG, HẠN CHẾ VÀ KẾT LUẬN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14438"/>
            <a:chOff x="0" y="0"/>
            <a:chExt cx="24384000" cy="16192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619250"/>
            </a:xfrm>
            <a:custGeom>
              <a:avLst/>
              <a:gdLst/>
              <a:ahLst/>
              <a:cxnLst/>
              <a:rect r="r" b="b" t="t" l="l"/>
              <a:pathLst>
                <a:path h="1619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9250"/>
                  </a:lnTo>
                  <a:lnTo>
                    <a:pt x="0" y="16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152" y="10072688"/>
            <a:ext cx="3047924" cy="214312"/>
            <a:chOff x="0" y="0"/>
            <a:chExt cx="4063898" cy="285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40076" y="10072688"/>
            <a:ext cx="3047924" cy="214312"/>
            <a:chOff x="0" y="0"/>
            <a:chExt cx="4063898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9922" y="2574482"/>
            <a:ext cx="16443939" cy="66040"/>
            <a:chOff x="0" y="0"/>
            <a:chExt cx="94869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8690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0">
                  <a:moveTo>
                    <a:pt x="0" y="0"/>
                  </a:moveTo>
                  <a:lnTo>
                    <a:pt x="9486900" y="0"/>
                  </a:lnTo>
                  <a:lnTo>
                    <a:pt x="9486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200025"/>
            <a:ext cx="2538651" cy="814388"/>
            <a:chOff x="0" y="0"/>
            <a:chExt cx="3384867" cy="1085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9922" y="1595311"/>
            <a:ext cx="11104304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 điểm, hạn chế và cách xử lý dữ liệu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3604" y="3240597"/>
            <a:ext cx="63656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</a:t>
            </a: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 điểm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9922" y="3844881"/>
            <a:ext cx="69976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Phản hồi nhanh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sẵn trên hầu hết điện thoại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Điều khiển mà không cần chạm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-319227">
            <a:off x="18354774" y="5969963"/>
            <a:ext cx="7111406" cy="2025211"/>
          </a:xfrm>
          <a:custGeom>
            <a:avLst/>
            <a:gdLst/>
            <a:ahLst/>
            <a:cxnLst/>
            <a:rect r="r" b="b" t="t" l="l"/>
            <a:pathLst>
              <a:path h="2025211" w="7111406">
                <a:moveTo>
                  <a:pt x="0" y="0"/>
                </a:moveTo>
                <a:lnTo>
                  <a:pt x="7111406" y="0"/>
                </a:lnTo>
                <a:lnTo>
                  <a:pt x="7111406" y="2025211"/>
                </a:lnTo>
                <a:lnTo>
                  <a:pt x="0" y="2025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630" t="-996716" r="-78563" b="-15442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9041892" y="3278461"/>
            <a:ext cx="53892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Hạn</a:t>
            </a: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chế và sai số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7516" y="3844881"/>
            <a:ext cx="726652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có nhiễu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Một</a:t>
            </a: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số máy thiếu cảm biến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Lấy mẫu nhiều thì tốn tài nguyên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826444" y="6359481"/>
            <a:ext cx="69236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Cách xử</a:t>
            </a:r>
            <a:r>
              <a:rPr lang="en-US" b="true" sz="3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lý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255" y="6925418"/>
            <a:ext cx="881097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Lọc bớt nhiễu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Không dựa vào một ngưỡng duy nhất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Kiểm tra máy có cảm biến trước khi dùng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687550" y="5953868"/>
            <a:ext cx="3600450" cy="4114800"/>
          </a:xfrm>
          <a:custGeom>
            <a:avLst/>
            <a:gdLst/>
            <a:ahLst/>
            <a:cxnLst/>
            <a:rect r="r" b="b" t="t" l="l"/>
            <a:pathLst>
              <a:path h="4114800" w="3600450">
                <a:moveTo>
                  <a:pt x="0" y="0"/>
                </a:moveTo>
                <a:lnTo>
                  <a:pt x="3600450" y="0"/>
                </a:lnTo>
                <a:lnTo>
                  <a:pt x="3600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14438"/>
            <a:chOff x="0" y="0"/>
            <a:chExt cx="24384000" cy="16192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619250"/>
            </a:xfrm>
            <a:custGeom>
              <a:avLst/>
              <a:gdLst/>
              <a:ahLst/>
              <a:cxnLst/>
              <a:rect r="r" b="b" t="t" l="l"/>
              <a:pathLst>
                <a:path h="1619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9250"/>
                  </a:lnTo>
                  <a:lnTo>
                    <a:pt x="0" y="16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152" y="10072688"/>
            <a:ext cx="3047924" cy="214312"/>
            <a:chOff x="0" y="0"/>
            <a:chExt cx="4063898" cy="285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40076" y="10072688"/>
            <a:ext cx="3047924" cy="214312"/>
            <a:chOff x="0" y="0"/>
            <a:chExt cx="4063898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9922" y="2574482"/>
            <a:ext cx="16443939" cy="66040"/>
            <a:chOff x="0" y="0"/>
            <a:chExt cx="94869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8690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0">
                  <a:moveTo>
                    <a:pt x="0" y="0"/>
                  </a:moveTo>
                  <a:lnTo>
                    <a:pt x="9486900" y="0"/>
                  </a:lnTo>
                  <a:lnTo>
                    <a:pt x="9486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200025"/>
            <a:ext cx="2538651" cy="814388"/>
            <a:chOff x="0" y="0"/>
            <a:chExt cx="3384867" cy="1085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4931" cy="1085850"/>
            </a:xfrm>
            <a:custGeom>
              <a:avLst/>
              <a:gdLst/>
              <a:ahLst/>
              <a:cxnLst/>
              <a:rect r="r" b="b" t="t" l="l"/>
              <a:pathLst>
                <a:path h="1085850" w="3384931">
                  <a:moveTo>
                    <a:pt x="0" y="0"/>
                  </a:moveTo>
                  <a:lnTo>
                    <a:pt x="3384931" y="0"/>
                  </a:lnTo>
                  <a:lnTo>
                    <a:pt x="3384931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319227">
            <a:off x="18354774" y="5969963"/>
            <a:ext cx="7111406" cy="2025211"/>
          </a:xfrm>
          <a:custGeom>
            <a:avLst/>
            <a:gdLst/>
            <a:ahLst/>
            <a:cxnLst/>
            <a:rect r="r" b="b" t="t" l="l"/>
            <a:pathLst>
              <a:path h="2025211" w="7111406">
                <a:moveTo>
                  <a:pt x="0" y="0"/>
                </a:moveTo>
                <a:lnTo>
                  <a:pt x="7111406" y="0"/>
                </a:lnTo>
                <a:lnTo>
                  <a:pt x="7111406" y="2025211"/>
                </a:lnTo>
                <a:lnTo>
                  <a:pt x="0" y="2025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630" t="-996716" r="-78563" b="-15442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269325" y="1490599"/>
            <a:ext cx="4374075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325" y="3288983"/>
            <a:ext cx="14825424" cy="145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Cảm biến chuyển động giúp thiết bị di động hiểu đươc những biến đổi vật lý của chính  nó.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9325" y="4982298"/>
            <a:ext cx="14825424" cy="145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Gia tốc kế đo chuyển động thẳng, con quay đo chuyển động xoay.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325" y="6818947"/>
            <a:ext cx="14825424" cy="219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Dữ</a:t>
            </a:r>
            <a:r>
              <a:rPr lang="en-US" sz="4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liệu cảm biến chỉ là đầu vào, cần xử lý thêm mới kết luận được.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886366" y="3303367"/>
            <a:ext cx="2864089" cy="2940484"/>
          </a:xfrm>
          <a:custGeom>
            <a:avLst/>
            <a:gdLst/>
            <a:ahLst/>
            <a:cxnLst/>
            <a:rect r="r" b="b" t="t" l="l"/>
            <a:pathLst>
              <a:path h="2940484" w="2864089">
                <a:moveTo>
                  <a:pt x="0" y="0"/>
                </a:moveTo>
                <a:lnTo>
                  <a:pt x="2864089" y="0"/>
                </a:lnTo>
                <a:lnTo>
                  <a:pt x="2864089" y="2940485"/>
                </a:lnTo>
                <a:lnTo>
                  <a:pt x="0" y="29404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72" t="0" r="-3472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46073" y="1383077"/>
            <a:ext cx="2795854" cy="2843241"/>
            <a:chOff x="0" y="0"/>
            <a:chExt cx="3727806" cy="3790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831" cy="3790950"/>
            </a:xfrm>
            <a:custGeom>
              <a:avLst/>
              <a:gdLst/>
              <a:ahLst/>
              <a:cxnLst/>
              <a:rect r="r" b="b" t="t" l="l"/>
              <a:pathLst>
                <a:path h="3790950" w="3727831">
                  <a:moveTo>
                    <a:pt x="0" y="0"/>
                  </a:moveTo>
                  <a:lnTo>
                    <a:pt x="3727831" y="0"/>
                  </a:lnTo>
                  <a:lnTo>
                    <a:pt x="3727831" y="3790950"/>
                  </a:lnTo>
                  <a:lnTo>
                    <a:pt x="0" y="379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18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95784" y="4413786"/>
            <a:ext cx="12896432" cy="201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1"/>
              </a:lnSpc>
            </a:pPr>
            <a:r>
              <a:rPr lang="en-US" b="true" sz="6099">
                <a:solidFill>
                  <a:srgbClr val="0050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CẢM ƠN THẦY VÀ CÁC BẠN ĐÃ  LẮNG NGHE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10072688"/>
            <a:ext cx="12191924" cy="214312"/>
            <a:chOff x="0" y="0"/>
            <a:chExt cx="16255898" cy="28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55873" cy="285750"/>
            </a:xfrm>
            <a:custGeom>
              <a:avLst/>
              <a:gdLst/>
              <a:ahLst/>
              <a:cxnLst/>
              <a:rect r="r" b="b" t="t" l="l"/>
              <a:pathLst>
                <a:path h="285750" w="16255873">
                  <a:moveTo>
                    <a:pt x="0" y="0"/>
                  </a:moveTo>
                  <a:lnTo>
                    <a:pt x="16255873" y="0"/>
                  </a:lnTo>
                  <a:lnTo>
                    <a:pt x="16255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1924" y="10072688"/>
            <a:ext cx="3047924" cy="214312"/>
            <a:chOff x="0" y="0"/>
            <a:chExt cx="4063898" cy="285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CB0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239848" y="10072688"/>
            <a:ext cx="3047924" cy="214312"/>
            <a:chOff x="0" y="0"/>
            <a:chExt cx="4063898" cy="285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3873" cy="285750"/>
            </a:xfrm>
            <a:custGeom>
              <a:avLst/>
              <a:gdLst/>
              <a:ahLst/>
              <a:cxnLst/>
              <a:rect r="r" b="b" t="t" l="l"/>
              <a:pathLst>
                <a:path h="285750" w="4063873">
                  <a:moveTo>
                    <a:pt x="0" y="0"/>
                  </a:moveTo>
                  <a:lnTo>
                    <a:pt x="4063873" y="0"/>
                  </a:lnTo>
                  <a:lnTo>
                    <a:pt x="4063873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D1C2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DAHXdKCdkL8</dc:identifier>
  <dcterms:modified xsi:type="dcterms:W3CDTF">2011-08-01T06:04:30Z</dcterms:modified>
  <cp:revision>1</cp:revision>
  <dc:title>Bài thuyết trình nhóm 4 con mèo</dc:title>
</cp:coreProperties>
</file>